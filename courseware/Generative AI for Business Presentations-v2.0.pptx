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388" r:id="rId139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84080" y="658368"/>
            <a:ext cx="16916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8229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1887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Generative AI for Business Presentations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TGS-2026061325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v2.0  ·  13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TRAINER PROFILE TEMPLATE · CUSTOMISE BEFORE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Assigned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Replace this card with the approved profile of the trainer assigned to this run.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APPROVED NAME AND 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the assigned trainer's approved name, role and organisation.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CREDENTIALS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relevant qualifications, certifications and industry experience.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PRESENTATION EXPERIENCE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facilitation and business-presentation experience relevant to this course.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CONTACT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only the approved learner-support channel; exclude personal contact details.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 / CREDENTIALS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20+ years of training and industry experience.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generative AI, business presentations and workplace productivity.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410712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experience with business presentations or generative AI (if any).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946904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presentation habit you want to improve during this course.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Actively participate — no question is too small.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Respect each other's views: agree to disagree.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 for funding eligibility.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ACCREDITATION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Business Presentation Delivery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TAC-BIN-5077-1.1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Proficiency Level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Level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4 Learning Units (LU1–LU4), each mapped to a Learning Outcome.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4 LEARNING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LU1 — Context, Objectives and Modes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context · Stakeholders · Audience needs · Objectives · Mode selection · AI readiness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LU2 — AI-Assisted Story and Collateral Design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Deliverables · Story architecture · Prompting · Tool selection · Visual hierarchy · Human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LU3 — Engage, Persuade and Handle Discussion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Message delivery · Data storytelling · Speaker support · Q&amp;A · Negotiation · Virtual and hybrid delivery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LU4 — Review Outcomes and Improve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Success measures · Feedback · Analytics · AI critique · Version control · Continuous improvement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Lesson Plan —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 &amp;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Context, objectives, modes and AI-assisted presentation design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LU1: Context, objectives and modes (Activities 1–2)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LU2: AI-assisted story and collateral design (Activities 3–4)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Delivery, discussion, review and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LU3: Engage, persuade and handle discussion (Activities 5–7)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LU4: Review outcomes and improve (Activity 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Assessment: Written Exam (1h) + Case Study (1h), 4:00–6:00pm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Day 1: 9:30am–6:30pm, 1-hour lunch. Day 2: 9:30am–6:00pm, 45-min lunch (to fit the assessment).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Context, Objectives &amp; Modes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Frame a decision-ready brief and select a suitable presentation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AI Story &amp; Collaterals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 and human-review an AI-assisted storyline and editable deck.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Engage &amp; Persuade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visual evidence, confident delivery, Q&amp;A and negotiation techniques.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Review &amp; Improve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Measure outcomes, prioritise revisions and control the master version.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177393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17739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874520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51176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551176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" y="2642616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319272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31012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3101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10712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087368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87368"/>
            <a:ext cx="9144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3272" y="407822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407822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792" y="4178808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855464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46904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62356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62356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3272" y="561441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" y="561441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64792" y="5715000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Written Assessment (WE) — four open-ended questions, 1 hour, open book.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79623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Case Study (CS) — one scenario with four mapped tasks, 1 hour, open 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1795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Format: Open Book — slides, Learner Guide and approved materials only.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3966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minimum of 75% attendance is required for assessment eligibility. Learners must be assessed as Competent and complete the TRAQOM survey.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6138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Chevron 10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5302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Chevron 16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7060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the Written Exam then the Case Study — open book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8818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Chevron 28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0576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Everything for the open-book assessment — slides, Learner Guide and submissions — lives on the LMS.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3749039" cy="35661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6888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0040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Tertiary Infotech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B8C7E0"/>
                </a:solidFill>
                <a:latin typeface="Arial"/>
              </a:rPr>
              <a:t>LMS and TMS for SSG courses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4297680"/>
            <a:ext cx="182880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429768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Sign in / OTP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2920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9CDCFE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2148840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2148840"/>
            <a:ext cx="91440" cy="7406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29200" y="229057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29057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48840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 in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Log in with your registered email (OTP or password).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3090672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00600" y="3090672"/>
            <a:ext cx="91440" cy="7406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29200" y="323240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2324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090672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Download materials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 and the Learner Guide from the course page — your open-book references.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4032504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00600" y="4032504"/>
            <a:ext cx="91440" cy="7406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29200" y="417423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7423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032504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 answers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your Written Assessment and Case Study answers on the LMS.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4974336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00600" y="4974336"/>
            <a:ext cx="91440" cy="7406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29200" y="511606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51160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974336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TRAQOM survey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870448"/>
            <a:ext cx="10634472" cy="457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870448"/>
            <a:ext cx="914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87044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PRACTICE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Practice Before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the practice portal to rehearse the assessment experience before the graded attempt.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3794760" cy="347472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9CDCFE"/>
                </a:solidFill>
                <a:latin typeface="Arial"/>
              </a:rPr>
              <a:t>PRACTICE PORTAL</a:t>
            </a:r>
          </a:p>
        </p:txBody>
      </p:sp>
      <p:sp>
        <p:nvSpPr>
          <p:cNvPr id="9" name="Oval 8"/>
          <p:cNvSpPr/>
          <p:nvPr/>
        </p:nvSpPr>
        <p:spPr>
          <a:xfrm>
            <a:off x="2039112" y="2880360"/>
            <a:ext cx="1234440" cy="1234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2880360"/>
            <a:ext cx="12344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891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TGS-2026061325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965960"/>
            <a:ext cx="651967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92040" y="1965960"/>
            <a:ext cx="91440" cy="7406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039112"/>
            <a:ext cx="60167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Open the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322576"/>
            <a:ext cx="60167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the link below and locate the matching course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2871216"/>
            <a:ext cx="651967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2040" y="2871216"/>
            <a:ext cx="91440" cy="7406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944368"/>
            <a:ext cx="60167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Rehearse the 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227832"/>
            <a:ext cx="60167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Practise answering within the stated time and evidence requirements.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3776472"/>
            <a:ext cx="651967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92040" y="3776472"/>
            <a:ext cx="91440" cy="7406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849624"/>
            <a:ext cx="60167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Review—not memorise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4133088"/>
            <a:ext cx="60167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the feedback to locate gaps in reasoning, evidence and communication.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4681728"/>
            <a:ext cx="651967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92040" y="4681728"/>
            <a:ext cx="91440" cy="7406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4754880"/>
            <a:ext cx="60167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Keep the assessment fair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5038344"/>
            <a:ext cx="60167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Practice content supports preparation; the graded paper remains confidential.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71500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71500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71500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  <a:hlinkClick r:id="rId2"/>
              </a:rPr>
              <a:t>https://exams.tertiaryinfotech.com/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Context, Objectives and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Business context · Stakeholders · Audience needs · Objectives · Mode selection · AI readiness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VISUAL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Define the decision before designing the deck</a:t>
            </a:r>
          </a:p>
        </p:txBody>
      </p:sp>
      <p:pic>
        <p:nvPicPr>
          <p:cNvPr id="6" name="Picture 5" descr="lu1-briefing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39255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Context, Objectives and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Business presentations exist to inform, recommend, persuade, align or decide; the desired audience action defines success.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Organisational context, stakeholder power and audience knowledge determine the message depth, tone and evidence needed.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precise objective combines audience, action, outcome and success evidence before any slide is generated.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 selection — live, virtual, hybrid or self-guided — changes interaction design, pacing, accessibility and follow-up.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Five Principles of Effective Business Presentations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presentation is a decision instrument, not a document-reading exercise.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197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Purpose before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the decision, action or understanding the presentation must create.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197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Audience before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Tailor depth, language, evidence and mode to the people in the room.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493008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493008"/>
            <a:ext cx="91440" cy="1197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Message before material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59936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Build a logical answer before selecting slides, images or templates.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3493008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493008"/>
            <a:ext cx="91440" cy="1197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3657600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Evidence before decoration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059936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visuals to make comparisons, trends, processes and trade-offs clearer.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928616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928616"/>
            <a:ext cx="91440" cy="1197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93208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Action before applause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95544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Finish with a decision, owner, date and follow-through measure.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BACK TO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Business Presentation Dos and Don'ts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Good practice removes friction between the audience and the required decision.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Don't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Objective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PowerPoint and start writing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the audience action and success evidence first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Reuse one deck for everyone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Tailor context, concerns, proof and vocabulary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everything you know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the main story focused; move detail to an appendix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End with 'Any questions?'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Restate recommendation, decision, owner and timing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ONE-PAGE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Presentation Brief in Six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19962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9962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Why now?</a:t>
            </a:r>
          </a:p>
        </p:txBody>
      </p:sp>
      <p:sp>
        <p:nvSpPr>
          <p:cNvPr id="11" name="Chevron 10"/>
          <p:cNvSpPr/>
          <p:nvPr/>
        </p:nvSpPr>
        <p:spPr>
          <a:xfrm>
            <a:off x="2339340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95372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5372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38094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8094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1676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Who decides?</a:t>
            </a:r>
          </a:p>
        </p:txBody>
      </p:sp>
      <p:sp>
        <p:nvSpPr>
          <p:cNvPr id="17" name="Chevron 16"/>
          <p:cNvSpPr/>
          <p:nvPr/>
        </p:nvSpPr>
        <p:spPr>
          <a:xfrm>
            <a:off x="4157472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13504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3504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56226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6226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9808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should they do?</a:t>
            </a:r>
          </a:p>
        </p:txBody>
      </p:sp>
      <p:sp>
        <p:nvSpPr>
          <p:cNvPr id="23" name="Chevron 22"/>
          <p:cNvSpPr/>
          <p:nvPr/>
        </p:nvSpPr>
        <p:spPr>
          <a:xfrm>
            <a:off x="5975604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1636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4358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4358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7940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must they believe?</a:t>
            </a:r>
          </a:p>
        </p:txBody>
      </p:sp>
      <p:sp>
        <p:nvSpPr>
          <p:cNvPr id="29" name="Chevron 28"/>
          <p:cNvSpPr/>
          <p:nvPr/>
        </p:nvSpPr>
        <p:spPr>
          <a:xfrm>
            <a:off x="7793736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9768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92490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2490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6072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evidence proves it?</a:t>
            </a:r>
          </a:p>
        </p:txBody>
      </p:sp>
      <p:sp>
        <p:nvSpPr>
          <p:cNvPr id="35" name="Chevron 34"/>
          <p:cNvSpPr/>
          <p:nvPr/>
        </p:nvSpPr>
        <p:spPr>
          <a:xfrm>
            <a:off x="9611868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67900" y="2240280"/>
            <a:ext cx="154381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67900" y="2240280"/>
            <a:ext cx="154381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10622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10622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4204" y="3566160"/>
            <a:ext cx="12512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will success be observed?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If these answers are unclear, AI will generate a faster version of the wrong presentation.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Audience Analysis Canvas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12848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F6FEB"/>
                </a:solidFill>
                <a:latin typeface="Arial"/>
              </a:rPr>
              <a:t>DECIDE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CFO approves budget; DPO sets data conditions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212848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KNOW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High business knowledge; uneven product detail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7576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6" y="2212848"/>
            <a:ext cx="337413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6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7C3AED"/>
                </a:solidFill>
                <a:latin typeface="Arial"/>
              </a:rPr>
              <a:t>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Margin, privacy and retailer readiness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091940"/>
            <a:ext cx="337413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59E0B"/>
                </a:solidFill>
                <a:latin typeface="Arial"/>
              </a:rPr>
              <a:t>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Sensitivity, data boundary, retailer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4091940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TONE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Direct, transparent, non-promotional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7576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7576" y="4091940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6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Conditional pilot approval with owners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8978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8978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9788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Tailoring changes emphasis and evidence — never the truth.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LO1 · LU1 · T1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 decision-ready business presentation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 decision-ready business presentation brief?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 decides, influences or uses the result?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should they decide, approve, understand or do?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would make the recommendation credible?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Constraints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Time, channel, confidentiality, brand and accessibility.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Lumen Learning; BIA effective-business-presentation guidance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From Business Need to Presentation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Name the business situation and why it matters now.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Map knowledge, concerns, power and decision role.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Write one observable audience action.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Define proof and success measures before drafting.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Choose live, virtual, hybrid or self-guided delivery.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T1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Weak Objective vs Decision-Ready 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Decision-ready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Share an update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Tell management about the project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Make a professional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Secure approval for a 12-week pilot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Resolve the two stated risk concerns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Confirm owner, budget and next review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BIA; Deckary; Lumen Learning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T1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 Selection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High interaction; use for negotiation and complex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Virtual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Distributed reach; design explicit engagement checkpoints.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Hybrid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Two audiences; ensure equal access to voice and visuals.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Self-guided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presenter; make the narrative and context self-contained.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 from business-presentation guidance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T1 · REAL-WORLD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Decision Comes Before the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28016" cy="42062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103120"/>
            <a:ext cx="283464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REAL-WORLD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Meridian Foods Singapore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80"/>
            <a:ext cx="9966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Meridian needs leadership approval for a 12-week ReadyWise smart-meal pilot. The useful brief is not 'present the product'; it is 'secure approval for the pilot budget and two named owners after resolving margin, privacy and retailer-readiness concerns.'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Decision-Ready Presentation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Meridian Foods Singapore is considering ReadyWise, an AI-assisted meal-planning service bundled with a new ready-meal range. Leadership has reserved 20 minutes at the next investment committee meeting.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The CFO worries about margin, the Data Protection Officer worries about customer-data use, and the Sales Director wants retailer evidence. Your team must turn this broad situation into a presentation brief before generating slides.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one-page presentation brief and mode-selection rationale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45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Decision-Ready Presentation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exact decision should the committee make at the end?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does each stakeholder already know, fear and need to believe?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three pieces of evidence are essential, and what belongs in the appendix?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mode best fits this decision and why?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Decision-Ready Presentation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Did the objective name an observable action?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Does the evidence directly answer the audience's concerns?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brief fits on one page and makes audience, action, evidence, constraints, mode and success measure explicit.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LO1 · LU1 · 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an AI presentation tool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an AI presentation tool decision?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well does the tool turn prompts or source files into a usable first draft?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 the team edit structure, brand, layouts, charts and notes?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Workflow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does it collaborate, import evidence and export editable files?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data, attribution, licensing and verification controls are needed?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official Microsoft, Canva, Adobe, Presenton, Manus, QuillBot and Prezent pages; Zapier comparison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Choose Tools by Job, Not Hype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Name the task, deliverable and sensitivity.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Shortlist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Compare relevant capabilities and constraints.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the same brief and source pack in two candidates.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Check accuracy, brand fit, accessibility and editability.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Document the tool, human checks and hand-off format.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T2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Fast Generation vs Controlled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Speed-led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Control-led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Prompt-to-deck in minutes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Useful for ideation and alternatives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Risk: generic narrative or unsupported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Build from verified source files and brand assets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Preserve editable PPTX and review trail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Best for high-stakes, confidential or regulated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Zapier evaluation criteria and official product pages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LU1 · T2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Tool-to-Task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PowerPoint + Copilot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Microsoft 365 workflow, source-grounded drafting, notes and team editing.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Canva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Rapid branded visual exploration and collaborative asset creation.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Gamma / Adobe Express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Fast web-style narratives and design-led first drafts.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Napkin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Convert concepts or text into editable visual diagrams.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Claude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Reason through briefs, storylines, objections and speaker notes.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Presenton / Manus / QuillBot / Prezent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Alternative generation, automation, export and enterprise-brand workflows.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official product pages supplied in the brief; Gamma and Napkin capabilities reviewed for activity use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T2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Tool Fit and Risk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Meridian's team can use PowerPoint, Microsoft 365 Copilot, Canva, Gamma, Napkin and Claude. A manager also proposes Presenton, Manus, QuillBot and Prezent. The source pack includes internal financial assumptions and customer research.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Choose a safe production chain that gets a first draft quickly while keeping the final deck editable, branded, accessible and evidence-controlled.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weighted AI-tool decision matrix and a human-in-the-loop production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40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T2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Tool Fit and Risk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tasks should be assigned to which tools, and why?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information must not be pasted into a public or unapproved service?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output formats are required at each hand-off?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human review gates must occur before the leadership meeting?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LU1 · T2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Tool Fit and Risk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Did the team compare outputs using one consistent brief?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Is the final owner accountable for every claim?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matrix compares at least six tools across task fit, source grounding, brand control, collaboration, export and data risk.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Context, Objectives and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Decision-Ready Presentation Brief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frame a presentation objective, audience action, evidence need and delivery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4370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Tool Fit and Risk Matrix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select an AI presentation workflow based on task fit, editability, governance and export requirements.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LU1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Start with the decision, not the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useful presentation brief names the audience, the action and the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AI-Assisted Story and Collateral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Deliverables · Story architecture · Prompting · Tool selection · Visual hierarchy · Human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push dir="l"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VISUAL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From AI first draft to controlled visual evidence</a:t>
            </a:r>
          </a:p>
        </p:txBody>
      </p:sp>
      <p:pic>
        <p:nvPicPr>
          <p:cNvPr id="6" name="Picture 5" descr="lu2-design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39255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AI-Assisted Story and Collateral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business deck uses a clear storyline: situation, complication, key question, answer, evidence and next 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Conclusion-first structure and action titles help executives understand the point before examining the detail.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tools differ in research, generation, brand control, collaboration, editability and export quality; choose by task and risk.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Human review must check factual accuracy, confidentiality, copyright, accessibility, brand fit and decision usefulness.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STORY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SCQA: A Business Story Spine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5287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5287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74495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4495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66160"/>
            <a:ext cx="216027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Situation — stable context</a:t>
            </a:r>
          </a:p>
        </p:txBody>
      </p:sp>
      <p:sp>
        <p:nvSpPr>
          <p:cNvPr id="11" name="Chevron 10"/>
          <p:cNvSpPr/>
          <p:nvPr/>
        </p:nvSpPr>
        <p:spPr>
          <a:xfrm>
            <a:off x="3248406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4438" y="2240280"/>
            <a:ext cx="245287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4438" y="2240280"/>
            <a:ext cx="245287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01693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1693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0742" y="3566160"/>
            <a:ext cx="216027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Complication — what changed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5604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2240280"/>
            <a:ext cx="245287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1636" y="2240280"/>
            <a:ext cx="245287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28891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28891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3566160"/>
            <a:ext cx="216027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Question — what must be resolved</a:t>
            </a:r>
          </a:p>
        </p:txBody>
      </p:sp>
      <p:sp>
        <p:nvSpPr>
          <p:cNvPr id="23" name="Chevron 22"/>
          <p:cNvSpPr/>
          <p:nvPr/>
        </p:nvSpPr>
        <p:spPr>
          <a:xfrm>
            <a:off x="8702802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58834" y="2240280"/>
            <a:ext cx="245287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58834" y="2240280"/>
            <a:ext cx="245287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56089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6089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5138" y="3566160"/>
            <a:ext cx="216027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Answer — recommendation + proof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Executives should encounter the answer early; detail then earns and qualifies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TOOL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AI Presentation Tools: Different Jobs, Different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Capabilities change; evaluate current output with the same brief and your own governance requirements.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Best used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Human control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2148840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PowerPoint + Copilot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Microsoft 365 drafting, notes and editable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56032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5603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Source accuracy, layout judgement, brand and final approval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15468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5468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Canva / Adobe Express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15468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15468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Fast branded exploration and visual asset workflows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315468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15468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Export fidelity, accessibility and evidence checks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749040"/>
            <a:ext cx="2148840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4904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Gamma / Presenton / Manus / QuillBot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74904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374904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Rapid prompt- or document-to-deck alternatives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374904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374904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Narrative logic, unsupported claims and editable hand-off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34340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34340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Napkin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434340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434340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Turning text into process and concept visuals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434340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434340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Simplification, factual labels and brand consistency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937760"/>
            <a:ext cx="2148840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93776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Claude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493776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90672" y="493776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Briefing, reasoning, objections, critique and speaker-note options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4937760"/>
            <a:ext cx="4242816" cy="594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33488" y="493776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Confidentiality, factual verification and final voice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532120"/>
            <a:ext cx="2148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532120"/>
            <a:ext cx="1874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Prezent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553212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0672" y="55321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Enterprise story and brand-consistent production workflows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8896" y="5532120"/>
            <a:ext cx="42428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33488" y="5532120"/>
            <a:ext cx="391363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Configuration, source ownership and organisational approval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RESPONSIBLE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Human Review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generated deck is presentation-ready until a named human reviews six dimensions.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197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facts, numbers, quotations, sources and uncertainty.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197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Confidentiality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only approved services and data classifications.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493008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493008"/>
            <a:ext cx="91440" cy="1197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Copyright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59936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image, template, font and source permissions; attribute where required.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3493008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493008"/>
            <a:ext cx="91440" cy="1197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3657600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Accessibility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059936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reading order, contrast, type size, alt text and non-colour cues.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928616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928616"/>
            <a:ext cx="91440" cy="1197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93208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Brand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95544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Apply the approved master, voice, assets and review trail.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4928616"/>
            <a:ext cx="5180076" cy="11978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928616"/>
            <a:ext cx="91440" cy="1197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5956" y="5093208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5956" y="5495544"/>
            <a:ext cx="46771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Confirm the final story helps this audience take the intended action.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GOVERNED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AI-Assisted Deck Production Swimlane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874519" cy="7840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194560"/>
            <a:ext cx="1618487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Business owner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2194560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39" y="2194560"/>
            <a:ext cx="64008" cy="7840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1" y="2194560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Approve brief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5583" y="2194560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5583" y="2194560"/>
            <a:ext cx="64008" cy="7840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0175" y="2194560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Verify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96527" y="2194560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96527" y="2194560"/>
            <a:ext cx="64008" cy="7840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2194560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Final sign-off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106674"/>
            <a:ext cx="1874519" cy="7840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106674"/>
            <a:ext cx="1618487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AI 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39" y="3106674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39" y="3106674"/>
            <a:ext cx="64008" cy="7840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9231" y="3106674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Generate options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5583" y="3106674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15583" y="3106674"/>
            <a:ext cx="64008" cy="7840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0175" y="3106674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Suggest visuals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96527" y="3106674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96527" y="3106674"/>
            <a:ext cx="64008" cy="7840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19" y="3106674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Draft notes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018788"/>
            <a:ext cx="1874519" cy="7840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" y="4018788"/>
            <a:ext cx="1618487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Presentation lead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39" y="4018788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34639" y="4018788"/>
            <a:ext cx="64008" cy="7840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1" y="4018788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Select story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5583" y="4018788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15583" y="4018788"/>
            <a:ext cx="64008" cy="7840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0175" y="4018788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Rebuild slides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96527" y="4018788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96527" y="4018788"/>
            <a:ext cx="64008" cy="7840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19" y="4018788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Run QA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0902"/>
            <a:ext cx="1874519" cy="7840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930902"/>
            <a:ext cx="1618487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Reviewer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39" y="4930902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34639" y="4930902"/>
            <a:ext cx="64008" cy="7840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9231" y="4930902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Check facts/brand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15583" y="4930902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15583" y="4930902"/>
            <a:ext cx="64008" cy="7840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0175" y="4930902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 export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96527" y="4930902"/>
            <a:ext cx="2798064" cy="78409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96527" y="4930902"/>
            <a:ext cx="64008" cy="7840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19" y="4930902"/>
            <a:ext cx="2523744" cy="7840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Approve release</a:t>
            </a:r>
          </a:p>
        </p:txBody>
      </p:sp>
      <p:sp>
        <p:nvSpPr>
          <p:cNvPr id="50" name="Chevron 49"/>
          <p:cNvSpPr/>
          <p:nvPr/>
        </p:nvSpPr>
        <p:spPr>
          <a:xfrm>
            <a:off x="5669279" y="5231511"/>
            <a:ext cx="109728" cy="182880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evron 50"/>
          <p:cNvSpPr/>
          <p:nvPr/>
        </p:nvSpPr>
        <p:spPr>
          <a:xfrm>
            <a:off x="8650223" y="5231511"/>
            <a:ext cx="109728" cy="182880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" y="58978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" y="589788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7280" y="589788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master deck and source record remain under named human ownership.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532120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workflow synthesis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LO2 · LU2 · T1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an executive story spine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an executive story spine?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Situation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stable context does the audience need?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Complication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changed, and why must the audience care now?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Question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decision or uncertainty must be resolved?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Answer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recommendation and proof lead to action?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Deckary business presentation guide; GLOBIS; Lumen Learning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the Narrative Before the Slides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Paste only approved context and define the audience.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Ask Claude or Copilot for three story-spine options.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Test logic, missing evidence and stakeholder objections.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Choose one answer-first flow and write action titles.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Trace every conclusion to a verified source.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T1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Titles vs Action Titles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Action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Market Opportunity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Pilot Economics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Customer Research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reachable segment can support a 12-week pilot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Base-case margin remains above the approved floor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Two customer needs predict trial intent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Approve the pilot and assign two owners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Deckary; conclusion-first and action-title guidance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T1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Nine-Slide Executive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Decision and recommendation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185074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Why now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2832811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Audience/customer insight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270479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2772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2832811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Proposed pilot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375452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362651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369417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375452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Economics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64792" y="4676241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7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Risks and mitigations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31636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31636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87668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87668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19188" y="4676241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8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Implementation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64792" y="559795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9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Decision and owners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worked example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T1 · REAL-WORLD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Write the Logic Before Decorating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28016" cy="42062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103120"/>
            <a:ext cx="283464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REAL-WORLD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Amazon-style narrative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80"/>
            <a:ext cx="9966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coherent story can survive a change of template. A weak story remains weak even after perfect branding. The team uses AI to surface options, then owns the final logic and evidence chain.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Executive Story Spine with Claude 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The committee's slot is only 20 minutes. Meridian has enough material for 30 slides, but leadership wants the recommendation first and will question margin, data use and retailer readiness.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Use Claude or Microsoft 365 Copilot to generate alternatives, then select and edit a nine-slide storyline that answers the decision without hiding the risks.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nine-slide story map with action titles, evidence notes and appendix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45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Executive Story Spine with Claude or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is the one-sentence answer?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complication creates urgency without exaggeration?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evidence belongs in the main story and appendix?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Does every slide title advance the argument?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Executive Story Spine with Claude 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Could an executive read only the titles and understand the logic?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Are AI-generated claims traceable to the source pack?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story map has a visible SCQA spine, recommendation-first opening, action titles and source notes for every claim.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LO2 · LU2 · 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 human-reviewed AI presentation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 human-reviewed AI presentation workflow?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Source-grounded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Begin with the approved brief, data and citations.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Editable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Retain control of text, charts, layouts and notes.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On-brand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approved colours, type, imagery and tone.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Accessible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Readable contrast, meaningful titles, alt text and non-colour cues.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official Microsoft, Canva, Adobe, Presenton, Manus, QuillBot and Prezent pages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Prompt, Generate, Audit, Rebuild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Provide role, audience, purpose, sources, structure and constraints.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Create two visual directions, not one final answer.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Check facts, logic, brand, accessibility and slide density.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Replace generic layouts with purpose-built visuals.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Test the editable PPTX and PDF before hand-off.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T2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Default vs Presentation-Ready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AI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Human-reviewed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Generic title and decorative image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Dense text summarised from a prompt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Unverified statistics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Inconsistent layouts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Action title and visual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message per slide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Cited, verified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Controlled grid, hierarchy and brand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official tool pages; supplied principles and do/don't guidance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LU2 · T2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Six Quality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Logic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the flow answer the decision?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 every claim verified and sourced?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Design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hierarchy guide attention?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Are approved assets and tone used?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 everyone read and interpret it?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PPTX/PDF survive hand-off?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worked example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T2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Draft-to-Deck Design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The story map is approved. Each team will produce one editable draft in PowerPoint/Copilot, Canva, Gamma, Adobe Express, Presenton, Manus, QuillBot or Prezent, then bring the strongest elements into a controlled PowerPoint master.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The committee will see the deck on a large screen and receive a self-guided PDF afterwards. All numbers must remain traceable to Meridian's source pack.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nine-slide editable draft plus an AI-output audit 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50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T2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Draft-to-Deck Design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prompt constraints materially improved the first draft?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slides need a custom visual rather than an AI default?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failed when exported to PPTX?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accessibility and brand defects must be fixed before rehearsal?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LU2 · T2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Draft-to-Deck Design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Was speed gained without transferring accountability to the tool?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Can another editor confidently update the final file?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draft is editable and passes the six gates: logic, evidence, design, brand, accessibility and export.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AI-Assisted Story and Collateral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Executive Story Spine with Claude or Copilot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turn a presentation brief into a conclusion-first business storyline and slide map.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4370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Draft-to-Deck Design Studio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generate and refine an editable, branded and accessible presentation draft.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LU2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 accelerates the first draft; judgement earns the audience's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Use AI for options, then verify, edit and own every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Engage, Persuade and Handle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Message delivery · Data storytelling · Speaker support · Q&amp;A · Negotiation · Virtual and hybrid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push dir="l"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VISUAL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Present to engage, listen and decide</a:t>
            </a:r>
          </a:p>
        </p:txBody>
      </p:sp>
      <p:pic>
        <p:nvPicPr>
          <p:cNvPr id="6" name="Picture 5" descr="lu3-delivery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39255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Engage, Persuade and Handle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Delivery integrates content, organisation and presence: opening, signposting, evidence, transitions, close and call to 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One message per slide, readable visuals and evidence-led charts reduce cognitive load and strengthen persuasion.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Questions reveal stakeholder concerns; acknowledge, clarify, answer with evidence and confirm whether the concern is resolved.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Negotiation slides make interests, options, trade-offs, boundaries and decisions visible without overwhelming the audience.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PRESENTATION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Content · Organisation ·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three elements reinforce one another; excellence in one cannot fully compensate for failure in another.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Relevant, accurate and audience-centred ideas supported by credible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Organisation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clear beginning, logical progression, signposts and decisive close.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Voice, pace, presence, interaction and tool control that make the message usable.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ONE MESSAGE PER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 Storytelling Dos and Don'ts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Design should make the evidence easier to understand, not merely more attractive.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Don't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Titles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Label the topic: 'Sales Results'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State the message: 'Repeat orders drove Q2 growth'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273552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73552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Charts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3D effects, legends and rainbow colours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direct labels and one purposeful accent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986784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86784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Paste paragraphs from a report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 short claim, visual evidence and an implication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700016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700016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generic decoration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an image only when it proves, explains or humanises the 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413248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413248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Accessibility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90672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Rely on colour and tiny labels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33488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readable type, contrast and non-colour cues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Handle Questions Without Losing the 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Acknowledge the concern</a:t>
            </a:r>
          </a:p>
        </p:txBody>
      </p:sp>
      <p:sp>
        <p:nvSpPr>
          <p:cNvPr id="11" name="Chevron 10"/>
          <p:cNvSpPr/>
          <p:nvPr/>
        </p:nvSpPr>
        <p:spPr>
          <a:xfrm>
            <a:off x="2702966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58998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3533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3533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5302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Clarify scope or assumption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4884724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40756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5291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5291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7060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Answer first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6482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2514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47049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7049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8818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Support with evidence</a:t>
            </a:r>
          </a:p>
        </p:txBody>
      </p:sp>
      <p:sp>
        <p:nvSpPr>
          <p:cNvPr id="29" name="Chevron 28"/>
          <p:cNvSpPr/>
          <p:nvPr/>
        </p:nvSpPr>
        <p:spPr>
          <a:xfrm>
            <a:off x="9248240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4272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28807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28807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0576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or record follow-up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 honest 'I will verify that by Friday' protects credibility better than an improvised answer.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EVIDENCE-LED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Worked Example: Make the Risk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base case clears the margin floor; the downside does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12848"/>
            <a:ext cx="3374136" cy="3200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12848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Downside gross margin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" y="4846320"/>
            <a:ext cx="30815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4846320"/>
            <a:ext cx="308152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Target: </a:t>
            </a:r>
            <a:r>
              <a:rPr sz="950" b="1">
                <a:solidFill>
                  <a:srgbClr val="161B26"/>
                </a:solidFill>
                <a:latin typeface="Arial"/>
              </a:rPr>
              <a:t>14% approved floor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2212848"/>
            <a:ext cx="3374136" cy="3200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2212848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Base-case gross margin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53712" y="4846320"/>
            <a:ext cx="30815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4846320"/>
            <a:ext cx="308152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Target: </a:t>
            </a:r>
            <a:r>
              <a:rPr sz="950" b="1">
                <a:solidFill>
                  <a:srgbClr val="161B26"/>
                </a:solidFill>
                <a:latin typeface="Arial"/>
              </a:rPr>
              <a:t>14% approved floor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2212848"/>
            <a:ext cx="3374136" cy="3200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37576" y="2212848"/>
            <a:ext cx="337413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7576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7C3AED"/>
                </a:solidFill>
                <a:latin typeface="Arial"/>
              </a:rPr>
              <a:t>23%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Upside gross margin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4846320"/>
            <a:ext cx="3081528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4846320"/>
            <a:ext cx="308152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Target: </a:t>
            </a:r>
            <a:r>
              <a:rPr sz="950" b="1">
                <a:solidFill>
                  <a:srgbClr val="161B26"/>
                </a:solidFill>
                <a:latin typeface="Arial"/>
              </a:rPr>
              <a:t>14% approved floor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8978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58978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89788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Decision implication: approve only with a week-4 margin gate and a defined stop condition.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41264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Meridian Foods case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Six-Minute Executive Rehearsal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12848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0:45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Decision and recommendation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212848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1:30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Why now and audience relevance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7576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6" y="2212848"/>
            <a:ext cx="337413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6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7C3AED"/>
                </a:solidFill>
                <a:latin typeface="Arial"/>
              </a:rPr>
              <a:t>3:30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and economics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091940"/>
            <a:ext cx="337413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59E0B"/>
                </a:solidFill>
                <a:latin typeface="Arial"/>
              </a:rPr>
              <a:t>4:30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Risks and controls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4091940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5:30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Implementation and owners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7576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7576" y="4091940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6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6:00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Decision close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8978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8978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9788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Rehearse the opening, hardest transition, likely objection and final ask — not only the middle.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LO3 · LU3 · T1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visual evidence for a business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visual evidence for a business decision?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Comparison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tables or aligned bars when the decision is relative.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Trend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line when time and direction matter.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Composition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stacked bars when parts of a whole must be compared.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flow, timeline or map when sequence and ownership matter.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Lumen presentation basics; Vibe; business-presentation design guidance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From Claim to Visual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Write the message the audience must understand.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Choose only data that proves or qualifies the claim.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Select chart, table, process or diagram by relationship.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Focus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an action title and visual emphasis.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State implication, limitation and next action.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T1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Presentation Visual Dos and Don'ts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Don't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Decorative image unrelated to the claim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3D charts and rainbow colours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Tiny labels and unexplained acronyms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Copy a dashboard without a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Show the relationship that supports the decision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direct labels and restrained emphasis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Write a complete action title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Explain source, uncertainty and implication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GLOBIS; VisualSpiders; Knowledge Academy; Lumen Learning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T1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Worked Example: Pilot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S$240k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Pilot investment cap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12 weeks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Proposed learning window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18%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Base-case gross margin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14%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margin floor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retailers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Initial test footprint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gates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Week 4 and Week 8 reviews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Meridian Foods case data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T1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Evidence-to-Visual Upgrade with Napkin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Meridian's AI draft contains a dense financial slide, a generic handshake photo and a six-step implementation paragraph. The committee needs to understand the economics, risk gates and ownership in under two minutes.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Use Napkin to explore a process visual, and PowerPoint or Canva to rebuild the economics and implementation slides as editable evidence-led visuals.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Three presentation-ready visual slides and a completed visual-quality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45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T1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Evidence-to-Visual Upgrade with Napkin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relationship must each visual reveal?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data is essential and which is noise?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Where could the visual mislead without a qualifier?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should the action title say?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T1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Evidence-to-Visual Upgrade with Napkin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Does the slide work when viewed from the back of the room?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Can the audience see the implication without decoding the chart?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Three weak slides are replaced with an evidence chart, a process visual and a decision table, each with an action title and source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LO3 · LU3 · 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an engaging presentation delivery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an engaging presentation delivery pattern?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relevance, decision and route through the story.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Guide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signposts, pauses and visual focus to manage attention.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Engage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Invite purposeful participation and read audience signals.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Restate recommendation, action, owner and timing.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BIA; Lumen Learning; Vibe business-presentation guidance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Acknowledge–Clarify–Answer–Confirm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5287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5287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7449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449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219684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219684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Recognise the question or concern without becoming defensive.</a:t>
            </a:r>
          </a:p>
        </p:txBody>
      </p:sp>
      <p:sp>
        <p:nvSpPr>
          <p:cNvPr id="12" name="Chevron 11"/>
          <p:cNvSpPr/>
          <p:nvPr/>
        </p:nvSpPr>
        <p:spPr>
          <a:xfrm>
            <a:off x="324840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4438" y="2331720"/>
            <a:ext cx="245287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4438" y="2331720"/>
            <a:ext cx="245287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0169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169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2454" y="3429000"/>
            <a:ext cx="219684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3813048"/>
            <a:ext cx="219684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Check scope, assumption and decision relevance.</a:t>
            </a:r>
          </a:p>
        </p:txBody>
      </p:sp>
      <p:sp>
        <p:nvSpPr>
          <p:cNvPr id="19" name="Chevron 18"/>
          <p:cNvSpPr/>
          <p:nvPr/>
        </p:nvSpPr>
        <p:spPr>
          <a:xfrm>
            <a:off x="597560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2331720"/>
            <a:ext cx="245287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331720"/>
            <a:ext cx="245287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288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288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9652" y="3429000"/>
            <a:ext cx="219684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9652" y="3813048"/>
            <a:ext cx="219684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Lead with the answer and support it with verified evidence.</a:t>
            </a:r>
          </a:p>
        </p:txBody>
      </p:sp>
      <p:sp>
        <p:nvSpPr>
          <p:cNvPr id="26" name="Chevron 25"/>
          <p:cNvSpPr/>
          <p:nvPr/>
        </p:nvSpPr>
        <p:spPr>
          <a:xfrm>
            <a:off x="870280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8834" y="2331720"/>
            <a:ext cx="245287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58834" y="2331720"/>
            <a:ext cx="245287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5608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5608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6850" y="3429000"/>
            <a:ext cx="219684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6850" y="3813048"/>
            <a:ext cx="219684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Ask whether the concern is resolved or what remains.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T2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Speaker-Led vs Slide-Led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Slide-led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Speaker-led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Reads the slide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Shows every detail at once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Answers before clarifying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Ends with 'Any questions?'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Explains the decision and uses slides as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Reveals and signposts ideas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Clarifies, answers, confirms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Ends with a specific decision and next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BIA; Lumen presentation basics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T2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Rehearsal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Recommendation and structure are immediately understood.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Credibility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Claims, confidence and limitations are handled honestly.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Connection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Presenter listens, adapts and includes the audience.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Timing, transitions, tools and questions remain purposeful.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worked example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T2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Delivery and Q&amp;A Rehearsal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ROLE PLAY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Rehearse a six-minute version of Meridian's ReadyWise recommendation followed by four minutes of stakeholder questions. Use PowerPoint Presenter View and Copilot-generated speaker-note options, but deliver in your own words.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timed rehearsal, peer scorecard and revised speaker-note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45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T2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Delivery and Q&amp;A Rehearsal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ASSIGN THE ROLES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94560"/>
            <a:ext cx="3361944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3361944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3361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Presenter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1635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090672"/>
            <a:ext cx="2959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secure pilot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977640"/>
            <a:ext cx="29596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 the opening, recommendation, evidence and close.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3504" y="2194560"/>
            <a:ext cx="3361944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3504" y="2194560"/>
            <a:ext cx="3361944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3504" y="2194560"/>
            <a:ext cx="3361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4672" y="281635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672" y="3090672"/>
            <a:ext cx="2959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4672" y="3977640"/>
            <a:ext cx="29596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Challenge margin assumptions and downside risk.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9768" y="2194560"/>
            <a:ext cx="3361944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9768" y="2194560"/>
            <a:ext cx="3361944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9768" y="2194560"/>
            <a:ext cx="3361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DPO / Sales Director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0936" y="281635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0936" y="3090672"/>
            <a:ext cx="2959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 governance or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0936" y="3977640"/>
            <a:ext cx="29596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one evidence-based objection and one follow-up.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T2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Delivery and Q&amp;A Rehearsal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Was the decision clear in the first minute?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question exposed a missing assumption?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Did the presenter answer first and then support?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Was the close specific about owner and timing?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T2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Delivery and Q&amp;A Rehearsal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Which delivery habit increased trust?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Which note should be rewritten before the final presentation?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presenter completes the opening, recommendation, evidence, two questions and decision close within ten minutes.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LO3 · LU3 · T3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 presentation that supports negotiation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 presentation that supports negotiation?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Interests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does each party really need to protect?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feasible packages could satisfy more than one interest?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Trade-offs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changes together, and at what cost?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Boundaries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is preferred, acceptable and not authorised?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negotiation and business-presentation synthesis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Make the Negotiation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Separate positions from underlying interests.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Show shared objective and decision criteria.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Package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Compare options and trade-offs transparently.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Use questions to identify movement and constraints.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Confirm decision, conditions, owners and unresolved issues.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T3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Argument Deck vs Negotiation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Argument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Negotiation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Proves our option is best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Hides disadvantages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Treats objections as resistance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Pushes for immediate agreement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Makes interests and criteria explicit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Shows trade-offs and boundaries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Uses objections as information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Records conditional agreement and next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GLOBIS do/don't guidance; course synthesis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LU3 · T3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Three Pilot Packages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Conservative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 retailers · S$160k cap · week-6 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Recommended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 retailers · S$240k cap · week-4 and week-8 gates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Accelerated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retailers · S$360k cap · added privacy and supply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Meridian Foods case data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T3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Negotiation Deck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ROLE PLAY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The committee supports ReadyWise in principle but disagrees on scale. Build a four-slide negotiation pack that makes interests, options, trade-offs and authority boundaries visible, then negotiate a conditional decision.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 four-slide negotiation pack and a documented conditional 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40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T3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Negotiation Deck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ASSIGN THE ROLES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94560"/>
            <a:ext cx="3361944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3361944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3361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Sponsor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1635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090672"/>
            <a:ext cx="2959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protect learning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977640"/>
            <a:ext cx="29596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Prefers the recommended three-retailer pilot.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3504" y="2194560"/>
            <a:ext cx="3361944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3504" y="2194560"/>
            <a:ext cx="3361944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3504" y="2194560"/>
            <a:ext cx="3361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4672" y="281635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672" y="3090672"/>
            <a:ext cx="2959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protect downside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4672" y="3977640"/>
            <a:ext cx="29596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Wants a lower cap and stronger exit gates.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9768" y="2194560"/>
            <a:ext cx="3361944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9768" y="2194560"/>
            <a:ext cx="3361944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9768" y="2194560"/>
            <a:ext cx="33619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Sales Director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0936" y="2816352"/>
            <a:ext cx="2959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0936" y="3090672"/>
            <a:ext cx="29596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protect retailer momentum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0936" y="3977640"/>
            <a:ext cx="29596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Wants five retailers to make the pilot meaningful.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T3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Negotiation Deck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interests are shared?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variable can be traded without breaking the objective?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is each role not authorised to concede?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How will conditional agreement be recorded?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LU3 · T3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Negotiation Deck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Did the deck create options or harden positions?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Were risks stated without weaponising them?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final slide records the agreed package, conditions, owners, dates and unresolved questions.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Engage, Persuade and Handle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Evidence-to-Visual Upgrade with Napkin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replace weak text and decorative graphics with decision-useful visual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Delivery and Q&amp;A Rehearsal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deliver a concise recommendation and respond to stakeholder questions with evidence.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Negotiation Deck Challenge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support a business negotiation with clear interests, options, trade-offs and decision boundaries.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LU3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confident presenter makes the next decision easier.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Clarity, credibility and audience participation outperform performance theatre.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Review Outcomes and Improve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Success measures · Feedback · Analytics · AI critique · Version control · Continuous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push dir="l"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VISUAL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Turn outcome evidence into the next better version</a:t>
            </a:r>
          </a:p>
        </p:txBody>
      </p:sp>
      <p:pic>
        <p:nvPicPr>
          <p:cNvPr id="6" name="Picture 5" descr="lu4-review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39255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Review Outcomes and Improve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Outcome measures connect the original objective to evidence such as decisions, actions, understanding and follow-through.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Feedback should separate storyline, evidence, design, delivery and interaction so the team knows what to improve.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critique is a useful second opinion, not an assessor of truth; prompts must specify audience, goal and review criteria.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repeatable review loop captures findings, prioritises changes, assigns ownership, controls versions and retests the deck.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SUCCESS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Measure the Outcome, Not the Applause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Presentation quality is visible in decisions, understanding, behaviour and follow-through.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Was the requested decision made, deferred or rejected — and why?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did the audience accurately recall or misunderstand?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Which questions, objections and engagement signals appeared?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Were owners, deadlines and commitments accepted and completed?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Presentation Improvement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outcome with objective</a:t>
            </a:r>
          </a:p>
        </p:txBody>
      </p:sp>
      <p:sp>
        <p:nvSpPr>
          <p:cNvPr id="11" name="Chevron 10"/>
          <p:cNvSpPr/>
          <p:nvPr/>
        </p:nvSpPr>
        <p:spPr>
          <a:xfrm>
            <a:off x="2702966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58998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3533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3533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5302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Diagnose five dimensions</a:t>
            </a:r>
          </a:p>
        </p:txBody>
      </p:sp>
      <p:sp>
        <p:nvSpPr>
          <p:cNvPr id="17" name="Chevron 16"/>
          <p:cNvSpPr/>
          <p:nvPr/>
        </p:nvSpPr>
        <p:spPr>
          <a:xfrm>
            <a:off x="4884724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40756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5291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5291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7060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Prioritise by impact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6482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2514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47049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7049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8818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Assign and revise</a:t>
            </a:r>
          </a:p>
        </p:txBody>
      </p:sp>
      <p:sp>
        <p:nvSpPr>
          <p:cNvPr id="29" name="Chevron 28"/>
          <p:cNvSpPr/>
          <p:nvPr/>
        </p:nvSpPr>
        <p:spPr>
          <a:xfrm>
            <a:off x="9248240" y="344728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4272" y="2240280"/>
            <a:ext cx="190743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28807" y="25511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28807" y="255117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0576" y="3566160"/>
            <a:ext cx="161483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Retest and approve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Keep a controlled master, version record, reviewer and acceptance criteria for every material change.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AI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Critique: Useful Second Opinion, Unsafe Final Judge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review prompt must include the audience, objective and criteria — then every suggestion still needs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Invented issue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 assumes missing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Provide the approved brief and label uncertainty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Style preference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 treats taste as a rule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Require a principle or outcome-evidence rationale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Confidentiality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Sensitive deck enters an unapproved 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Redact, classify and use approved enterprise tools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False confidence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Suggestion sounds authoritative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Triangulate with feedback, standards and business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Outcome Review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12848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6FEB"/>
                </a:solidFill>
                <a:latin typeface="Arial"/>
              </a:rP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Did the audience understand the answer and logic?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212848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Arial"/>
              </a:rPr>
              <a:t>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Were claims credible, sufficient and qualified?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7576" y="2212848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6" y="2212848"/>
            <a:ext cx="337413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6" y="2487168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7C3AED"/>
                </a:solidFill>
                <a:latin typeface="Arial"/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419856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Did visual hierarchy guide attention?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091940"/>
            <a:ext cx="337413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59E0B"/>
                </a:solidFill>
                <a:latin typeface="Arial"/>
              </a:rPr>
              <a:t>DELIVER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Were pace, transitions and presence controlled?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4091940"/>
            <a:ext cx="33741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F6FEB"/>
                </a:solidFill>
                <a:latin typeface="Arial"/>
              </a:rPr>
              <a:t>ENGAGE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Were questions and concerns handled productively?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7576" y="4091940"/>
            <a:ext cx="3374136" cy="16413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7576" y="4091940"/>
            <a:ext cx="337413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6" y="4366260"/>
            <a:ext cx="33741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0B981"/>
                </a:solidFill>
                <a:latin typeface="Arial"/>
              </a:rPr>
              <a:t>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5298948"/>
            <a:ext cx="308152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Was the intended decision/action achieved?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8978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8978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9788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Each score needs an observed fact; otherwise it is only an opinion.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LO4 · LU4 · T1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 presentation outcome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LU4 · 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 presentation outcome review?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Was the intended decision or action achieved?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Understanding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did the audience accurately recall or misunderstand?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concerns, questions and engagement signals appeared?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Follow-through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Were owners, dates and commitments completed?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Sources: Lumen business presentations; BIA; continuous-improvement synthesis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LU4 · T1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Review–Prioritise–Revise–Retest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Compare outcome evidence with the original objective.</a:t>
            </a:r>
          </a:p>
        </p:txBody>
      </p:sp>
      <p:sp>
        <p:nvSpPr>
          <p:cNvPr id="12" name="Chevron 11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Diagnose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7014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Separate story, evidence, design, delivery and interaction issues.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772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Prioritise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772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Rank changes by decision impact and effort.</a:t>
            </a:r>
          </a:p>
        </p:txBody>
      </p:sp>
      <p:sp>
        <p:nvSpPr>
          <p:cNvPr id="26" name="Chevron 25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0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Revise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0530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Assign owners and maintain a controlled master version.</a:t>
            </a:r>
          </a:p>
        </p:txBody>
      </p:sp>
      <p:sp>
        <p:nvSpPr>
          <p:cNvPr id="33" name="Chevron 32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2288" y="3429000"/>
            <a:ext cx="165140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8" y="3813048"/>
            <a:ext cx="165140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Rehearse with the same audience criteria.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LU4 · T1 ·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Useful Feedback vs Vague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Vague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Actionable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Make it more engaging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 much text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chart was confusing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ending felt weak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Ask the CFO to choose between two risk options on slide 7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Move calculation detail to appendix and keep the three assumptions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Direct-label base/downside series and state the margin implication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Close with decision, two owners and the week-4 review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course synthesis from presentation-review guidance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LU4 · T1 · 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Outcome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Pilot approved with conditions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Understanding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 of 4 assumptions accurately recalled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Concerns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Privacy boundary still unclear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DPO to provide wording by Friday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Follow-through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Week-4 review booked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Update slides 4, 6 and 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63056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Source: illustrative Meridian Foods post-presentation review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LU4 · T1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Presentation Review and Improvement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6916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447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Meridian's pilot was approved conditionally. The audience understood the commercial case but remained unclear about personal-data boundaries. The CFO requested a downside view, and the final decision slide did not name the DPO deliverable.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Use peer evidence, meeting notes and an AI critique from Claude or Copilot to diagnose the deck, then create a controlled improvement backlog and revised master.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produce:  </a:t>
            </a:r>
            <a:r>
              <a:rPr sz="1300" b="0">
                <a:solidFill>
                  <a:srgbClr val="161B26"/>
                </a:solidFill>
                <a:latin typeface="Arial"/>
              </a:rPr>
              <a:t>An outcome scorecard, improvement backlog, version record and revised three-slide 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606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</a:t>
            </a:r>
            <a:r>
              <a:rPr sz="1300" b="0">
                <a:solidFill>
                  <a:srgbClr val="5B6372"/>
                </a:solidFill>
                <a:latin typeface="Arial"/>
              </a:rPr>
              <a:t>50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LU4 · T1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Presentation Review and Improvement Sprint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DISCUSSION &amp; DECISION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400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3400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outcome evidence matters more than aesthetic preference?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68396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8396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335356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5356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68396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What is the root cause of each issue?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87952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87952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437311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7311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87952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Which three changes have the highest decision impact?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07508"/>
            <a:ext cx="10634472" cy="8732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07508"/>
            <a:ext cx="73152" cy="8732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539267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39267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07508"/>
            <a:ext cx="9308592" cy="873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Who owns each change and how will the new version be tested?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LU4 · T1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Presentation Review and Improvement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651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REFLECT &amp; DISCUSS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Did the AI critique find a real issue or merely prefer another style?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•  Can every change be traced to evidence or a defined standard?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63440"/>
            <a:ext cx="10634472" cy="1371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64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7A3E"/>
                </a:solidFill>
                <a:latin typeface="Arial"/>
              </a:rPr>
              <a:t>✓  Facilitator debrief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team produces an evidence-based scorecard, prioritised backlog, version record and three revised slides.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Review Outcomes and Improve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Presentation Review and Improvement Sprint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evaluate presentation outcomes and prioritise evidence-based improvements.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LU4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presentation is complete only when its outcome is measured.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Review the decision, the audience response and the evidence — not just the slide aesthetics.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SOURCE-ALIGNED 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Sources &amp; Further Reading —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PowerPoint with Copilot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powerpoint.cloud.microsoft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Canva AI Presentations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canva.com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Adobe Express AI Presentation Maker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adobe.com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Zapier AI presentation-maker comparison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zapier.com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SOURCE-ALIGNED 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Sources &amp; Further Reading —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Presenton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presenton.ai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Manus AI Presentation Generator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manus.im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QuillBot AI Presentation Maker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quillbot.com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Prezent Create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prezent.ai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SOURCE-ALIGNED 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Sources &amp; Further Reading —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Lumen Learning: Business Presentations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courses.lumenlearning.com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Bureau of Indian Affairs: Effective Business Presentation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bia.gov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Deckary Business Presentation Guide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deckary.com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Business Presentations: Back to Basics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medium.com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Lumen Learning: Presentation Basics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courses.lumenlearning.com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SOURCE-ALIGNED 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Sources &amp; Further Reading — 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Vibe Business Presentation Guide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vibe.us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Knowledge Academy: Principles of Presentation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theknowledgeacademy.com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VisualSpiders Presentation Principles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visualspiders.com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GLOBIS Presentation Dos and Don'ts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corporatesolutions.globis.com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Decision-Ready Presentation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audience, action, context and success evidence before opening a presentation tool.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3582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582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3582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AI to generate options, then apply structure, brand, evidence and human judgement.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9924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9924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Deliver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9924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Guide attention, invite discussion and answer concerns with concise, verified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6266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6266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Improve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6266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the outcome with the objective, prioritise changes and maintain a controlled master deck.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440680"/>
            <a:ext cx="10634472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440680"/>
            <a:ext cx="91440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44068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Brief clearly, structure the answer, visualise the evidence, rehearse the interaction and measure the outcome.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 advClick="1">
    <p:wipe dir="l"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Context, Objectives &amp; Modes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Framed the audience, decision, evidence and delivery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AI Story &amp; Collaterals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Selected tools and created a verified, editable presentation draft.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Engage &amp; Persuade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Used visual evidence, delivery, Q&amp;A and negotiation techniques.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Review &amp; Improve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Measured outcomes and controlled evidence-based revisions.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Examination (WE)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Four open-ended questions — 1 hour, open book.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Case Study (CS)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hour, open 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Submit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 the LMS — lms-tms.tertiaryinfotech.com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1775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1775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Chevron 10"/>
          <p:cNvSpPr/>
          <p:nvPr/>
        </p:nvSpPr>
        <p:spPr>
          <a:xfrm>
            <a:off x="2702966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58998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8998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3533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3533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5302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Chevron 16"/>
          <p:cNvSpPr/>
          <p:nvPr/>
        </p:nvSpPr>
        <p:spPr>
          <a:xfrm>
            <a:off x="4884724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40756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0756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5291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5291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7060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the Written Exam then the Case Study — open book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6482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2514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22514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47049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7049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8818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Chevron 28"/>
          <p:cNvSpPr/>
          <p:nvPr/>
        </p:nvSpPr>
        <p:spPr>
          <a:xfrm>
            <a:off x="9248240" y="3607308"/>
            <a:ext cx="237744" cy="329184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4272" y="2331720"/>
            <a:ext cx="190743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4272" y="233172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28807" y="264261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28807" y="26426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0576" y="3657600"/>
            <a:ext cx="161483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AT THE NEXT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equipped to create decision-ready business presentations with generative AI and human judgement.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 advClick="1">
    <p:zoom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Generative AI for Business Presentations  ·  TGS-2026061325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pic>
        <p:nvPicPr>
          <p:cNvPr id="40" name="Picture 39" descr="ref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004" y="1851660"/>
            <a:ext cx="7967686" cy="396392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777240" y="5897880"/>
            <a:ext cx="1063721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